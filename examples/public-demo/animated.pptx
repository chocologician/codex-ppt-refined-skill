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52BAEA0-21E9-49E2-A417-A86654B0E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17ACFE-F5BB-416F-8AFD-780382ACF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2C03089-3932-4181-984E-6685B7D2B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3D8B07C-49D4-4310-A225-DA2AE518C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6AD9000-69F8-4CE5-8400-2ADEDF1D3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29BC42B-A61D-4A58-8253-B03A0A4A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3C46C62-7FFA-46CF-8E76-94AB3C545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3E1D755-D2D9-4A11-9480-BBAD6647692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33880BB-4D8F-47BB-A191-690C545A6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4059671-E00B-4D3C-BDBF-4AEFA8E85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ction">
            <a:extLst>
              <a:ext uri="{FF2B5EF4-FFF2-40B4-BE49-F238E27FC236}">
                <a16:creationId xmlns:a16="http://schemas.microsoft.com/office/drawing/2014/main" id="{DDC8E33B-7761-41B0-8CEB-1B4F17BDAB2E}"/>
              </a:ext>
            </a:extLst>
          </p:cNvPr>
          <p:cNvSpPr>
            <a:spLocks/>
          </p:cNvSpPr>
          <p:nvPr/>
        </p:nvSpPr>
        <p:spPr>
          <a:xfrm>
            <a:off x="609600" y="4191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工作流示例 / 01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4069CC34-F289-4BA1-B9F9-54500416D87E}"/>
              </a:ext>
            </a:extLst>
          </p:cNvPr>
          <p:cNvSpPr>
            <a:spLocks/>
          </p:cNvSpPr>
          <p:nvPr/>
        </p:nvSpPr>
        <p:spPr>
          <a:xfrm>
            <a:off x="609600" y="621030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公开合成示例 · 原生文字与流程可编辑</a:t>
            </a:r>
          </a:p>
        </p:txBody>
      </p:sp>
      <p:sp>
        <p:nvSpPr>
          <p:cNvPr id="3" name="Animation_主题">
            <a:extLst>
              <a:ext uri="{FF2B5EF4-FFF2-40B4-BE49-F238E27FC236}">
                <a16:creationId xmlns:a16="http://schemas.microsoft.com/office/drawing/2014/main" id="{70D50926-E6B8-45D7-8908-0F8C9424F456}"/>
              </a:ext>
            </a:extLst>
          </p:cNvPr>
          <p:cNvSpPr>
            <a:spLocks/>
          </p:cNvSpPr>
          <p:nvPr/>
        </p:nvSpPr>
        <p:spPr>
          <a:xfrm>
            <a:off x="609600" y="1400175"/>
            <a:ext cx="10001250" cy="1809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rPr>
              <a:t>把信息讲清楚，</a:t>
            </a:r>
          </a:p>
          <a:p>
            <a: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rPr>
              <a:t>让视觉有秩序。</a:t>
            </a:r>
          </a:p>
        </p:txBody>
      </p:sp>
      <p:sp>
        <p:nvSpPr>
          <p:cNvPr id="4" name="Animation_用途">
            <a:extLst>
              <a:ext uri="{FF2B5EF4-FFF2-40B4-BE49-F238E27FC236}">
                <a16:creationId xmlns:a16="http://schemas.microsoft.com/office/drawing/2014/main" id="{1E9274C3-F10E-4543-89A0-3124125258C2}"/>
              </a:ext>
            </a:extLst>
          </p:cNvPr>
          <p:cNvSpPr>
            <a:spLocks/>
          </p:cNvSpPr>
          <p:nvPr/>
        </p:nvSpPr>
        <p:spPr>
          <a:xfrm>
            <a:off x="657225" y="3571875"/>
            <a:ext cx="9906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从原生内容到分步动画的一次完整演示</a:t>
            </a:r>
          </a:p>
        </p:txBody>
      </p:sp>
      <p:sp>
        <p:nvSpPr>
          <p:cNvPr id="5" name="Animation_原则">
            <a:extLst>
              <a:ext uri="{FF2B5EF4-FFF2-40B4-BE49-F238E27FC236}">
                <a16:creationId xmlns:a16="http://schemas.microsoft.com/office/drawing/2014/main" id="{570F2ADA-1567-4D99-BC35-467515C59926}"/>
              </a:ext>
            </a:extLst>
          </p:cNvPr>
          <p:cNvSpPr>
            <a:spLocks/>
          </p:cNvSpPr>
          <p:nvPr/>
        </p:nvSpPr>
        <p:spPr>
          <a:xfrm>
            <a:off x="657225" y="4791075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内容准确   /   组件可改   /   节奏可控</a:t>
            </a:r>
          </a:p>
        </p:txBody>
      </p:sp>
    </p:spTree>
    <p:extLst>
      <p:ext uri="{BB962C8B-B14F-4D97-AF65-F5344CB8AC3E}">
        <p14:creationId xmlns:p14="http://schemas.microsoft.com/office/powerpoint/2010/main" val="77459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5000" decel="4500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accel="15000" decel="4500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accel="15000" decel="45000" fill="hold" grpId="0" nodeType="after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">
            <a:extLst>
              <a:ext uri="{FF2B5EF4-FFF2-40B4-BE49-F238E27FC236}">
                <a16:creationId xmlns:a16="http://schemas.microsoft.com/office/drawing/2014/main" id="{9EA208EA-DA00-4EE9-99D6-1536544DC980}"/>
              </a:ext>
            </a:extLst>
          </p:cNvPr>
          <p:cNvSpPr>
            <a:spLocks/>
          </p:cNvSpPr>
          <p:nvPr/>
        </p:nvSpPr>
        <p:spPr>
          <a:xfrm>
            <a:off x="609600" y="4191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语义流程 / 02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E6D55897-42F5-432A-826F-DA3BA23F4B41}"/>
              </a:ext>
            </a:extLst>
          </p:cNvPr>
          <p:cNvSpPr>
            <a:spLocks/>
          </p:cNvSpPr>
          <p:nvPr/>
        </p:nvSpPr>
        <p:spPr>
          <a:xfrm>
            <a:off x="609600" y="621030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公开合成示例 · 原生文字与流程可编辑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7829BC6-489F-410F-A48A-0DC11FB7FFD0}"/>
              </a:ext>
            </a:extLst>
          </p:cNvPr>
          <p:cNvSpPr>
            <a:spLocks/>
          </p:cNvSpPr>
          <p:nvPr/>
        </p:nvSpPr>
        <p:spPr>
          <a:xfrm>
            <a:off x="609600" y="1038225"/>
            <a:ext cx="108585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rPr>
              <a:t>跟着讲述顺序展开</a:t>
            </a:r>
          </a:p>
        </p:txBody>
      </p:sp>
      <p:sp>
        <p:nvSpPr>
          <p:cNvPr id="4" name="Animation_阅读提示">
            <a:extLst>
              <a:ext uri="{FF2B5EF4-FFF2-40B4-BE49-F238E27FC236}">
                <a16:creationId xmlns:a16="http://schemas.microsoft.com/office/drawing/2014/main" id="{4EA670E8-59CA-49D1-927F-3B057D16AD4F}"/>
              </a:ext>
            </a:extLst>
          </p:cNvPr>
          <p:cNvSpPr>
            <a:spLocks/>
          </p:cNvSpPr>
          <p:nvPr/>
        </p:nvSpPr>
        <p:spPr>
          <a:xfrm>
            <a:off x="638175" y="1952625"/>
            <a:ext cx="105727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四个步骤依次出现，最后呈现验收结论。</a:t>
            </a:r>
          </a:p>
        </p:txBody>
      </p:sp>
      <p:grpSp>
        <p:nvGrpSpPr>
          <p:cNvPr id="22" name="Animation_步骤1">
            <a:extLst>
              <a:ext uri="{FF2B5EF4-FFF2-40B4-BE49-F238E27FC236}">
                <a16:creationId xmlns:a16="http://schemas.microsoft.com/office/drawing/2014/main" id="{36F1ADA8-99A6-D881-0E9E-F0EB5EA108C4}"/>
              </a:ext>
            </a:extLst>
          </p:cNvPr>
          <p:cNvGrpSpPr/>
          <p:nvPr/>
        </p:nvGrpSpPr>
        <p:grpSpPr>
          <a:xfrm>
            <a:off x="628650" y="3086100"/>
            <a:ext cx="2305050" cy="1943100"/>
            <a:chOff x="628650" y="3086100"/>
            <a:chExt cx="2305050" cy="1943100"/>
          </a:xfrm>
        </p:grpSpPr>
        <p:sp>
          <p:nvSpPr>
            <p:cNvPr id="5" name="PPTAnim_2_5">
              <a:extLst>
                <a:ext uri="{FF2B5EF4-FFF2-40B4-BE49-F238E27FC236}">
                  <a16:creationId xmlns:a16="http://schemas.microsoft.com/office/drawing/2014/main" id="{2FE47982-93B4-4CA0-8CF1-D975E5E7D36F}"/>
                </a:ext>
              </a:extLst>
            </p:cNvPr>
            <p:cNvSpPr>
              <a:spLocks/>
            </p:cNvSpPr>
            <p:nvPr/>
          </p:nvSpPr>
          <p:spPr>
            <a:xfrm>
              <a:off x="628650" y="3086100"/>
              <a:ext cx="2190750" cy="51435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6" name="PPTAnim_2_6">
              <a:extLst>
                <a:ext uri="{FF2B5EF4-FFF2-40B4-BE49-F238E27FC236}">
                  <a16:creationId xmlns:a16="http://schemas.microsoft.com/office/drawing/2014/main" id="{4AE5AF9E-CC02-4FE5-AD92-2E4763C58CBE}"/>
                </a:ext>
              </a:extLst>
            </p:cNvPr>
            <p:cNvSpPr>
              <a:spLocks/>
            </p:cNvSpPr>
            <p:nvPr/>
          </p:nvSpPr>
          <p:spPr>
            <a:xfrm>
              <a:off x="628650" y="3676650"/>
              <a:ext cx="2286000" cy="51435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rPr>
                <a:t>明确内容</a:t>
              </a:r>
            </a:p>
          </p:txBody>
        </p:sp>
        <p:sp>
          <p:nvSpPr>
            <p:cNvPr id="7" name="PPTAnim_2_7">
              <a:extLst>
                <a:ext uri="{FF2B5EF4-FFF2-40B4-BE49-F238E27FC236}">
                  <a16:creationId xmlns:a16="http://schemas.microsoft.com/office/drawing/2014/main" id="{700B7401-746B-41B5-B061-E90BDA364D8A}"/>
                </a:ext>
              </a:extLst>
            </p:cNvPr>
            <p:cNvSpPr>
              <a:spLocks/>
            </p:cNvSpPr>
            <p:nvPr/>
          </p:nvSpPr>
          <p:spPr>
            <a:xfrm>
              <a:off x="628650" y="4305300"/>
              <a:ext cx="2305050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rPr>
                <a:t>整理事实与讲述目标</a:t>
              </a:r>
            </a:p>
          </p:txBody>
        </p:sp>
      </p:grpSp>
      <p:sp>
        <p:nvSpPr>
          <p:cNvPr id="8" name="Animation_流程连接">
            <a:extLst>
              <a:ext uri="{FF2B5EF4-FFF2-40B4-BE49-F238E27FC236}">
                <a16:creationId xmlns:a16="http://schemas.microsoft.com/office/drawing/2014/main" id="{C4F8774D-0F91-449F-B48B-BABC8500B2B0}"/>
              </a:ext>
            </a:extLst>
          </p:cNvPr>
          <p:cNvSpPr>
            <a:spLocks/>
          </p:cNvSpPr>
          <p:nvPr/>
        </p:nvSpPr>
        <p:spPr>
          <a:xfrm>
            <a:off x="3038475" y="3638550"/>
            <a:ext cx="42862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grpSp>
        <p:nvGrpSpPr>
          <p:cNvPr id="23" name="Animation_步骤2">
            <a:extLst>
              <a:ext uri="{FF2B5EF4-FFF2-40B4-BE49-F238E27FC236}">
                <a16:creationId xmlns:a16="http://schemas.microsoft.com/office/drawing/2014/main" id="{7F24C5B0-5050-59E6-4895-CC0EE2306D34}"/>
              </a:ext>
            </a:extLst>
          </p:cNvPr>
          <p:cNvGrpSpPr/>
          <p:nvPr/>
        </p:nvGrpSpPr>
        <p:grpSpPr>
          <a:xfrm>
            <a:off x="3505200" y="3086100"/>
            <a:ext cx="2305050" cy="1943100"/>
            <a:chOff x="3505200" y="3086100"/>
            <a:chExt cx="2305050" cy="1943100"/>
          </a:xfrm>
        </p:grpSpPr>
        <p:sp>
          <p:nvSpPr>
            <p:cNvPr id="9" name="PPTAnim_2_9">
              <a:extLst>
                <a:ext uri="{FF2B5EF4-FFF2-40B4-BE49-F238E27FC236}">
                  <a16:creationId xmlns:a16="http://schemas.microsoft.com/office/drawing/2014/main" id="{64468525-5B08-4C47-982D-F94C9C7DDAB3}"/>
                </a:ext>
              </a:extLst>
            </p:cNvPr>
            <p:cNvSpPr>
              <a:spLocks/>
            </p:cNvSpPr>
            <p:nvPr/>
          </p:nvSpPr>
          <p:spPr>
            <a:xfrm>
              <a:off x="3505200" y="3086100"/>
              <a:ext cx="2190750" cy="51435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0" name="PPTAnim_2_10">
              <a:extLst>
                <a:ext uri="{FF2B5EF4-FFF2-40B4-BE49-F238E27FC236}">
                  <a16:creationId xmlns:a16="http://schemas.microsoft.com/office/drawing/2014/main" id="{CD787AEB-C221-401A-9C87-CC3487371AB4}"/>
                </a:ext>
              </a:extLst>
            </p:cNvPr>
            <p:cNvSpPr>
              <a:spLocks/>
            </p:cNvSpPr>
            <p:nvPr/>
          </p:nvSpPr>
          <p:spPr>
            <a:xfrm>
              <a:off x="3505200" y="3676650"/>
              <a:ext cx="2286000" cy="51435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rPr>
                <a:t>组织版式</a:t>
              </a:r>
            </a:p>
          </p:txBody>
        </p:sp>
        <p:sp>
          <p:nvSpPr>
            <p:cNvPr id="11" name="PPTAnim_2_11">
              <a:extLst>
                <a:ext uri="{FF2B5EF4-FFF2-40B4-BE49-F238E27FC236}">
                  <a16:creationId xmlns:a16="http://schemas.microsoft.com/office/drawing/2014/main" id="{7038A79D-8435-4895-BF9F-3AA3D001F342}"/>
                </a:ext>
              </a:extLst>
            </p:cNvPr>
            <p:cNvSpPr>
              <a:spLocks/>
            </p:cNvSpPr>
            <p:nvPr/>
          </p:nvSpPr>
          <p:spPr>
            <a:xfrm>
              <a:off x="3505200" y="4305300"/>
              <a:ext cx="2305050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rPr>
                <a:t>建立层级与阅读顺序</a:t>
              </a:r>
            </a:p>
          </p:txBody>
        </p:sp>
      </p:grpSp>
      <p:sp>
        <p:nvSpPr>
          <p:cNvPr id="12" name="Animation_流程连接">
            <a:extLst>
              <a:ext uri="{FF2B5EF4-FFF2-40B4-BE49-F238E27FC236}">
                <a16:creationId xmlns:a16="http://schemas.microsoft.com/office/drawing/2014/main" id="{BA6FAEF0-AFB3-41A6-9ED6-8DA4B706199D}"/>
              </a:ext>
            </a:extLst>
          </p:cNvPr>
          <p:cNvSpPr>
            <a:spLocks/>
          </p:cNvSpPr>
          <p:nvPr/>
        </p:nvSpPr>
        <p:spPr>
          <a:xfrm>
            <a:off x="5915025" y="3638550"/>
            <a:ext cx="42862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grpSp>
        <p:nvGrpSpPr>
          <p:cNvPr id="24" name="Animation_步骤3">
            <a:extLst>
              <a:ext uri="{FF2B5EF4-FFF2-40B4-BE49-F238E27FC236}">
                <a16:creationId xmlns:a16="http://schemas.microsoft.com/office/drawing/2014/main" id="{6FE4EE79-A088-FD35-02B2-66335A3B01D0}"/>
              </a:ext>
            </a:extLst>
          </p:cNvPr>
          <p:cNvGrpSpPr/>
          <p:nvPr/>
        </p:nvGrpSpPr>
        <p:grpSpPr>
          <a:xfrm>
            <a:off x="6381750" y="3086100"/>
            <a:ext cx="2305050" cy="1943100"/>
            <a:chOff x="6381750" y="3086100"/>
            <a:chExt cx="2305050" cy="1943100"/>
          </a:xfrm>
        </p:grpSpPr>
        <p:sp>
          <p:nvSpPr>
            <p:cNvPr id="13" name="PPTAnim_2_13">
              <a:extLst>
                <a:ext uri="{FF2B5EF4-FFF2-40B4-BE49-F238E27FC236}">
                  <a16:creationId xmlns:a16="http://schemas.microsoft.com/office/drawing/2014/main" id="{74820713-CAF5-40A5-9ECE-EE3E8CDDD640}"/>
                </a:ext>
              </a:extLst>
            </p:cNvPr>
            <p:cNvSpPr>
              <a:spLocks/>
            </p:cNvSpPr>
            <p:nvPr/>
          </p:nvSpPr>
          <p:spPr>
            <a:xfrm>
              <a:off x="6381750" y="3086100"/>
              <a:ext cx="2190750" cy="51435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4" name="PPTAnim_2_14">
              <a:extLst>
                <a:ext uri="{FF2B5EF4-FFF2-40B4-BE49-F238E27FC236}">
                  <a16:creationId xmlns:a16="http://schemas.microsoft.com/office/drawing/2014/main" id="{4172034B-FCF5-4F86-BB52-52EEBAA7736D}"/>
                </a:ext>
              </a:extLst>
            </p:cNvPr>
            <p:cNvSpPr>
              <a:spLocks/>
            </p:cNvSpPr>
            <p:nvPr/>
          </p:nvSpPr>
          <p:spPr>
            <a:xfrm>
              <a:off x="6381750" y="3676650"/>
              <a:ext cx="2286000" cy="51435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rPr>
                <a:t>安排动画</a:t>
              </a:r>
            </a:p>
          </p:txBody>
        </p:sp>
        <p:sp>
          <p:nvSpPr>
            <p:cNvPr id="15" name="PPTAnim_2_15">
              <a:extLst>
                <a:ext uri="{FF2B5EF4-FFF2-40B4-BE49-F238E27FC236}">
                  <a16:creationId xmlns:a16="http://schemas.microsoft.com/office/drawing/2014/main" id="{5F911918-2074-4CBA-9769-114B0BD1381C}"/>
                </a:ext>
              </a:extLst>
            </p:cNvPr>
            <p:cNvSpPr>
              <a:spLocks/>
            </p:cNvSpPr>
            <p:nvPr/>
          </p:nvSpPr>
          <p:spPr>
            <a:xfrm>
              <a:off x="6381750" y="4305300"/>
              <a:ext cx="2305050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rPr>
                <a:t>按组件控制时长与停顿</a:t>
              </a:r>
            </a:p>
          </p:txBody>
        </p:sp>
      </p:grpSp>
      <p:sp>
        <p:nvSpPr>
          <p:cNvPr id="16" name="Animation_流程连接">
            <a:extLst>
              <a:ext uri="{FF2B5EF4-FFF2-40B4-BE49-F238E27FC236}">
                <a16:creationId xmlns:a16="http://schemas.microsoft.com/office/drawing/2014/main" id="{205002B0-862B-42FF-8612-4209E21D9325}"/>
              </a:ext>
            </a:extLst>
          </p:cNvPr>
          <p:cNvSpPr>
            <a:spLocks/>
          </p:cNvSpPr>
          <p:nvPr/>
        </p:nvSpPr>
        <p:spPr>
          <a:xfrm>
            <a:off x="8791575" y="3638550"/>
            <a:ext cx="42862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grpSp>
        <p:nvGrpSpPr>
          <p:cNvPr id="25" name="Animation_步骤4">
            <a:extLst>
              <a:ext uri="{FF2B5EF4-FFF2-40B4-BE49-F238E27FC236}">
                <a16:creationId xmlns:a16="http://schemas.microsoft.com/office/drawing/2014/main" id="{ED33A5FA-E7B1-7EBD-3FBB-8BF25ACFE29C}"/>
              </a:ext>
            </a:extLst>
          </p:cNvPr>
          <p:cNvGrpSpPr/>
          <p:nvPr/>
        </p:nvGrpSpPr>
        <p:grpSpPr>
          <a:xfrm>
            <a:off x="9258300" y="3086100"/>
            <a:ext cx="2305050" cy="1943100"/>
            <a:chOff x="9258300" y="3086100"/>
            <a:chExt cx="2305050" cy="1943100"/>
          </a:xfrm>
        </p:grpSpPr>
        <p:sp>
          <p:nvSpPr>
            <p:cNvPr id="17" name="PPTAnim_2_17">
              <a:extLst>
                <a:ext uri="{FF2B5EF4-FFF2-40B4-BE49-F238E27FC236}">
                  <a16:creationId xmlns:a16="http://schemas.microsoft.com/office/drawing/2014/main" id="{849C18E5-46F5-4674-9304-04BEF48A76EA}"/>
                </a:ext>
              </a:extLst>
            </p:cNvPr>
            <p:cNvSpPr>
              <a:spLocks/>
            </p:cNvSpPr>
            <p:nvPr/>
          </p:nvSpPr>
          <p:spPr>
            <a:xfrm>
              <a:off x="9258300" y="3086100"/>
              <a:ext cx="2190750" cy="51435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18" name="PPTAnim_2_18">
              <a:extLst>
                <a:ext uri="{FF2B5EF4-FFF2-40B4-BE49-F238E27FC236}">
                  <a16:creationId xmlns:a16="http://schemas.microsoft.com/office/drawing/2014/main" id="{8DCD3592-A3B7-45A6-94C1-32AD94313070}"/>
                </a:ext>
              </a:extLst>
            </p:cNvPr>
            <p:cNvSpPr>
              <a:spLocks/>
            </p:cNvSpPr>
            <p:nvPr/>
          </p:nvSpPr>
          <p:spPr>
            <a:xfrm>
              <a:off x="9258300" y="3676650"/>
              <a:ext cx="2286000" cy="51435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rPr>
                <a:t>检查交付</a:t>
              </a:r>
            </a:p>
          </p:txBody>
        </p:sp>
        <p:sp>
          <p:nvSpPr>
            <p:cNvPr id="19" name="PPTAnim_2_19">
              <a:extLst>
                <a:ext uri="{FF2B5EF4-FFF2-40B4-BE49-F238E27FC236}">
                  <a16:creationId xmlns:a16="http://schemas.microsoft.com/office/drawing/2014/main" id="{B2138053-02EF-4E81-8F29-A8425C840E31}"/>
                </a:ext>
              </a:extLst>
            </p:cNvPr>
            <p:cNvSpPr>
              <a:spLocks/>
            </p:cNvSpPr>
            <p:nvPr/>
          </p:nvSpPr>
          <p:spPr>
            <a:xfrm>
              <a:off x="9258300" y="4305300"/>
              <a:ext cx="2305050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60717A"/>
                  </a:solidFill>
                  <a:latin typeface="Microsoft YaHei"/>
                  <a:ea typeface="Microsoft YaHei"/>
                  <a:cs typeface="Microsoft YaHei"/>
                </a:rPr>
                <a:t>核对画面与实际放映</a:t>
              </a:r>
            </a:p>
          </p:txBody>
        </p:sp>
      </p:grpSp>
      <p:sp>
        <p:nvSpPr>
          <p:cNvPr id="20" name="Animation_收束结论">
            <a:extLst>
              <a:ext uri="{FF2B5EF4-FFF2-40B4-BE49-F238E27FC236}">
                <a16:creationId xmlns:a16="http://schemas.microsoft.com/office/drawing/2014/main" id="{606F8AE0-77F4-4466-9318-1A1A5FB1220A}"/>
              </a:ext>
            </a:extLst>
          </p:cNvPr>
          <p:cNvSpPr>
            <a:spLocks/>
          </p:cNvSpPr>
          <p:nvPr/>
        </p:nvSpPr>
        <p:spPr>
          <a:xfrm>
            <a:off x="638175" y="5429250"/>
            <a:ext cx="107632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rPr>
              <a:t>先读懂，再看清，最后顺畅地讲出来。</a:t>
            </a:r>
          </a:p>
        </p:txBody>
      </p:sp>
    </p:spTree>
    <p:extLst>
      <p:ext uri="{BB962C8B-B14F-4D97-AF65-F5344CB8AC3E}">
        <p14:creationId xmlns:p14="http://schemas.microsoft.com/office/powerpoint/2010/main" val="201519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5000" decel="4500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accel="15000" decel="45000" fill="hold" nodeType="after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50"/>
                            </p:stCondLst>
                            <p:childTnLst>
                              <p:par>
                                <p:cTn id="13" presetID="22" presetClass="entr" presetSubtype="8" accel="15000" decel="4500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00"/>
                            </p:stCondLst>
                            <p:childTnLst>
                              <p:par>
                                <p:cTn id="17" presetID="10" presetClass="entr" presetSubtype="0" accel="15000" decel="4500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150"/>
                            </p:stCondLst>
                            <p:childTnLst>
                              <p:par>
                                <p:cTn id="21" presetID="22" presetClass="entr" presetSubtype="8" accel="15000" decel="4500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800"/>
                            </p:stCondLst>
                            <p:childTnLst>
                              <p:par>
                                <p:cTn id="25" presetID="10" presetClass="entr" presetSubtype="0" accel="15000" decel="4500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50"/>
                            </p:stCondLst>
                            <p:childTnLst>
                              <p:par>
                                <p:cTn id="29" presetID="22" presetClass="entr" presetSubtype="8" accel="15000" decel="4500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300"/>
                            </p:stCondLst>
                            <p:childTnLst>
                              <p:par>
                                <p:cTn id="33" presetID="10" presetClass="entr" presetSubtype="0" accel="15000" decel="4500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150"/>
                            </p:stCondLst>
                            <p:childTnLst>
                              <p:par>
                                <p:cTn id="37" presetID="10" presetClass="entr" presetSubtype="0" accel="15000" decel="45000" fill="hold" grpId="0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2" grpId="0"/>
      <p:bldP spid="16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ction">
            <a:extLst>
              <a:ext uri="{FF2B5EF4-FFF2-40B4-BE49-F238E27FC236}">
                <a16:creationId xmlns:a16="http://schemas.microsoft.com/office/drawing/2014/main" id="{32331272-BF99-4E9A-82BF-D6E19FCF6A4C}"/>
              </a:ext>
            </a:extLst>
          </p:cNvPr>
          <p:cNvSpPr>
            <a:spLocks/>
          </p:cNvSpPr>
          <p:nvPr/>
        </p:nvSpPr>
        <p:spPr>
          <a:xfrm>
            <a:off x="609600" y="4191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验证与边界 / 03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9C90CC8C-3CEE-44F5-A551-AB34F44D515D}"/>
              </a:ext>
            </a:extLst>
          </p:cNvPr>
          <p:cNvSpPr>
            <a:spLocks/>
          </p:cNvSpPr>
          <p:nvPr/>
        </p:nvSpPr>
        <p:spPr>
          <a:xfrm>
            <a:off x="609600" y="621030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公开合成示例 · 原生文字与流程可编辑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A055203-3863-482D-A48B-24C2248C4717}"/>
              </a:ext>
            </a:extLst>
          </p:cNvPr>
          <p:cNvSpPr>
            <a:spLocks/>
          </p:cNvSpPr>
          <p:nvPr/>
        </p:nvSpPr>
        <p:spPr>
          <a:xfrm>
            <a:off x="609600" y="1047750"/>
            <a:ext cx="1085850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rPr>
              <a:t>可见的结果，可复现的过程</a:t>
            </a:r>
          </a:p>
        </p:txBody>
      </p:sp>
      <p:grpSp>
        <p:nvGrpSpPr>
          <p:cNvPr id="12" name="Animation_验证1">
            <a:extLst>
              <a:ext uri="{FF2B5EF4-FFF2-40B4-BE49-F238E27FC236}">
                <a16:creationId xmlns:a16="http://schemas.microsoft.com/office/drawing/2014/main" id="{87EFF841-816F-43D8-5441-DA37E60DB0CD}"/>
              </a:ext>
            </a:extLst>
          </p:cNvPr>
          <p:cNvGrpSpPr/>
          <p:nvPr/>
        </p:nvGrpSpPr>
        <p:grpSpPr>
          <a:xfrm>
            <a:off x="638175" y="2543175"/>
            <a:ext cx="10791825" cy="552450"/>
            <a:chOff x="638175" y="2543175"/>
            <a:chExt cx="10791825" cy="552450"/>
          </a:xfrm>
        </p:grpSpPr>
        <p:sp>
          <p:nvSpPr>
            <p:cNvPr id="4" name="PPTAnim_3_4">
              <a:extLst>
                <a:ext uri="{FF2B5EF4-FFF2-40B4-BE49-F238E27FC236}">
                  <a16:creationId xmlns:a16="http://schemas.microsoft.com/office/drawing/2014/main" id="{E2FB724B-933E-4CF1-B841-81C73CF12CFF}"/>
                </a:ext>
              </a:extLst>
            </p:cNvPr>
            <p:cNvSpPr>
              <a:spLocks/>
            </p:cNvSpPr>
            <p:nvPr/>
          </p:nvSpPr>
          <p:spPr>
            <a:xfrm>
              <a:off x="638175" y="2543175"/>
              <a:ext cx="1828800" cy="49530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rPr>
                <a:t>可编辑</a:t>
              </a:r>
            </a:p>
          </p:txBody>
        </p:sp>
        <p:sp>
          <p:nvSpPr>
            <p:cNvPr id="5" name="PPTAnim_3_5">
              <a:extLst>
                <a:ext uri="{FF2B5EF4-FFF2-40B4-BE49-F238E27FC236}">
                  <a16:creationId xmlns:a16="http://schemas.microsoft.com/office/drawing/2014/main" id="{913693C4-A5E0-4FCC-8499-5D0B435DFF4E}"/>
                </a:ext>
              </a:extLst>
            </p:cNvPr>
            <p:cNvSpPr>
              <a:spLocks/>
            </p:cNvSpPr>
            <p:nvPr/>
          </p:nvSpPr>
          <p:spPr>
            <a:xfrm>
              <a:off x="2667000" y="2562225"/>
              <a:ext cx="8763000" cy="53340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rPr>
                <a:t>标题、正文和流程均为原生对象。</a:t>
              </a:r>
            </a:p>
          </p:txBody>
        </p:sp>
      </p:grpSp>
      <p:grpSp>
        <p:nvGrpSpPr>
          <p:cNvPr id="13" name="Animation_验证2">
            <a:extLst>
              <a:ext uri="{FF2B5EF4-FFF2-40B4-BE49-F238E27FC236}">
                <a16:creationId xmlns:a16="http://schemas.microsoft.com/office/drawing/2014/main" id="{DE728596-4BDE-B4F4-F3CA-B247D474CCA5}"/>
              </a:ext>
            </a:extLst>
          </p:cNvPr>
          <p:cNvGrpSpPr/>
          <p:nvPr/>
        </p:nvGrpSpPr>
        <p:grpSpPr>
          <a:xfrm>
            <a:off x="638175" y="3467100"/>
            <a:ext cx="10791825" cy="552450"/>
            <a:chOff x="638175" y="3467100"/>
            <a:chExt cx="10791825" cy="552450"/>
          </a:xfrm>
        </p:grpSpPr>
        <p:sp>
          <p:nvSpPr>
            <p:cNvPr id="6" name="PPTAnim_3_6">
              <a:extLst>
                <a:ext uri="{FF2B5EF4-FFF2-40B4-BE49-F238E27FC236}">
                  <a16:creationId xmlns:a16="http://schemas.microsoft.com/office/drawing/2014/main" id="{45B671D4-2CF3-4414-A9E2-4405B42F39C8}"/>
                </a:ext>
              </a:extLst>
            </p:cNvPr>
            <p:cNvSpPr>
              <a:spLocks/>
            </p:cNvSpPr>
            <p:nvPr/>
          </p:nvSpPr>
          <p:spPr>
            <a:xfrm>
              <a:off x="638175" y="3467100"/>
              <a:ext cx="1828800" cy="49530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rPr>
                <a:t>可复现</a:t>
              </a:r>
            </a:p>
          </p:txBody>
        </p:sp>
        <p:sp>
          <p:nvSpPr>
            <p:cNvPr id="7" name="PPTAnim_3_7">
              <a:extLst>
                <a:ext uri="{FF2B5EF4-FFF2-40B4-BE49-F238E27FC236}">
                  <a16:creationId xmlns:a16="http://schemas.microsoft.com/office/drawing/2014/main" id="{FDCE8B5E-6892-4B1B-BD11-76065AA0B408}"/>
                </a:ext>
              </a:extLst>
            </p:cNvPr>
            <p:cNvSpPr>
              <a:spLocks/>
            </p:cNvSpPr>
            <p:nvPr/>
          </p:nvSpPr>
          <p:spPr>
            <a:xfrm>
              <a:off x="2667000" y="3486150"/>
              <a:ext cx="8763000" cy="53340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rPr>
                <a:t>使用同一份源稿与计划，重新生成动画。</a:t>
              </a:r>
            </a:p>
          </p:txBody>
        </p:sp>
      </p:grpSp>
      <p:grpSp>
        <p:nvGrpSpPr>
          <p:cNvPr id="14" name="Animation_验证3">
            <a:extLst>
              <a:ext uri="{FF2B5EF4-FFF2-40B4-BE49-F238E27FC236}">
                <a16:creationId xmlns:a16="http://schemas.microsoft.com/office/drawing/2014/main" id="{26B1CFEA-8059-A699-C290-D7C89CEDA3A8}"/>
              </a:ext>
            </a:extLst>
          </p:cNvPr>
          <p:cNvGrpSpPr/>
          <p:nvPr/>
        </p:nvGrpSpPr>
        <p:grpSpPr>
          <a:xfrm>
            <a:off x="638175" y="4391025"/>
            <a:ext cx="10791825" cy="552450"/>
            <a:chOff x="638175" y="4391025"/>
            <a:chExt cx="10791825" cy="552450"/>
          </a:xfrm>
        </p:grpSpPr>
        <p:sp>
          <p:nvSpPr>
            <p:cNvPr id="8" name="PPTAnim_3_8">
              <a:extLst>
                <a:ext uri="{FF2B5EF4-FFF2-40B4-BE49-F238E27FC236}">
                  <a16:creationId xmlns:a16="http://schemas.microsoft.com/office/drawing/2014/main" id="{79092651-4234-41BC-BACA-312CA694C8D2}"/>
                </a:ext>
              </a:extLst>
            </p:cNvPr>
            <p:cNvSpPr>
              <a:spLocks/>
            </p:cNvSpPr>
            <p:nvPr/>
          </p:nvSpPr>
          <p:spPr>
            <a:xfrm>
              <a:off x="638175" y="4391025"/>
              <a:ext cx="1828800" cy="49530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250" b="1">
                  <a:solidFill>
                    <a:srgbClr val="D25A28"/>
                  </a:solidFill>
                  <a:latin typeface="Microsoft YaHei"/>
                  <a:ea typeface="Microsoft YaHei"/>
                  <a:cs typeface="Microsoft YaHei"/>
                </a:rPr>
                <a:t>可核对</a:t>
              </a:r>
            </a:p>
          </p:txBody>
        </p:sp>
        <p:sp>
          <p:nvSpPr>
            <p:cNvPr id="9" name="PPTAnim_3_9">
              <a:extLst>
                <a:ext uri="{FF2B5EF4-FFF2-40B4-BE49-F238E27FC236}">
                  <a16:creationId xmlns:a16="http://schemas.microsoft.com/office/drawing/2014/main" id="{23986C4E-60C5-4E85-8AA2-570D2518CCDD}"/>
                </a:ext>
              </a:extLst>
            </p:cNvPr>
            <p:cNvSpPr>
              <a:spLocks/>
            </p:cNvSpPr>
            <p:nvPr/>
          </p:nvSpPr>
          <p:spPr>
            <a:xfrm>
              <a:off x="2667000" y="4410075"/>
              <a:ext cx="8763000" cy="53340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lstStyle>
              <a:def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defPPr>
              <a:lvl1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1pPr>
              <a:lvl2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2pPr>
              <a:lvl3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3pPr>
              <a:lvl4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4pPr>
              <a:lvl5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5pPr>
              <a:lvl6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6pPr>
              <a:lvl7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7pPr>
              <a:lvl8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8pPr>
              <a:lvl9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lvl9pPr>
            </a:lstStyle>
            <a:p>
              <a:pPr>
                <a:def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0">
                  <a:solidFill>
                    <a:srgbClr val="172D40"/>
                  </a:solidFill>
                  <a:latin typeface="Microsoft YaHei"/>
                  <a:ea typeface="Microsoft YaHei"/>
                  <a:cs typeface="Microsoft YaHei"/>
                </a:rPr>
                <a:t>保存后检查时序，再对比最终画面。</a:t>
              </a:r>
            </a:p>
          </p:txBody>
        </p:sp>
      </p:grpSp>
      <p:sp>
        <p:nvSpPr>
          <p:cNvPr id="10" name="Animation_能力边界">
            <a:extLst>
              <a:ext uri="{FF2B5EF4-FFF2-40B4-BE49-F238E27FC236}">
                <a16:creationId xmlns:a16="http://schemas.microsoft.com/office/drawing/2014/main" id="{B8D2A170-0498-4E4C-AD92-5720ADABC750}"/>
              </a:ext>
            </a:extLst>
          </p:cNvPr>
          <p:cNvSpPr>
            <a:spLocks/>
          </p:cNvSpPr>
          <p:nvPr/>
        </p:nvSpPr>
        <p:spPr>
          <a:xfrm>
            <a:off x="638175" y="55530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这是合成的功能示例，不代表任意资料都能自动转换。</a:t>
            </a:r>
          </a:p>
        </p:txBody>
      </p:sp>
    </p:spTree>
    <p:extLst>
      <p:ext uri="{BB962C8B-B14F-4D97-AF65-F5344CB8AC3E}">
        <p14:creationId xmlns:p14="http://schemas.microsoft.com/office/powerpoint/2010/main" val="17325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5000" decel="45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accel="15000" decel="45000" fill="hold" nodeType="after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150"/>
                            </p:stCondLst>
                            <p:childTnLst>
                              <p:par>
                                <p:cTn id="13" presetID="10" presetClass="entr" presetSubtype="0" accel="15000" decel="45000" fill="hold" nodeType="after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50"/>
                            </p:stCondLst>
                            <p:childTnLst>
                              <p:par>
                                <p:cTn id="17" presetID="10" presetClass="entr" presetSubtype="0" accel="15000" decel="4500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DocSecurity>0</DocSecurity>
  <PresentationFormat>宽屏</PresentationFormat>
  <Paragraphs>36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Presentation</dc:title>
  <dc:creator>Walnut Exporter</dc:creator>
  <ns0:revision>1</ns0:revision>
  <ns2:created xsi:type="dcterms:W3CDTF">2026-10-21T13:45:52Z</ns2:created>
  <ns2:modified xsi:type="dcterms:W3CDTF">2026-10-21T13:48:41Z</ns2:modified>
</ns0:coreProperties>
</file>